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14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295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14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6400800" cy="6400800"/>
          </a:xfrm>
          <a:prstGeom prst="ellipse">
            <a:avLst/>
          </a:prstGeom>
          <a:solidFill>
            <a:srgbClr val="2A0E25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188720"/>
            <a:ext cx="4754880" cy="4754880"/>
          </a:xfrm>
          <a:prstGeom prst="ellipse">
            <a:avLst/>
          </a:prstGeom>
          <a:solidFill>
            <a:srgbClr val="482050"/>
          </a:solidFill>
          <a:ln/>
        </p:spPr>
      </p:sp>
      <p:sp>
        <p:nvSpPr>
          <p:cNvPr id="4" name="Shape 2"/>
          <p:cNvSpPr/>
          <p:nvPr/>
        </p:nvSpPr>
        <p:spPr>
          <a:xfrm>
            <a:off x="-2103120" y="4206240"/>
            <a:ext cx="4754880" cy="4754880"/>
          </a:xfrm>
          <a:prstGeom prst="ellipse">
            <a:avLst/>
          </a:prstGeom>
          <a:solidFill>
            <a:srgbClr val="2A0E25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640080"/>
            <a:ext cx="685800" cy="685800"/>
          </a:xfrm>
          <a:prstGeom prst="ellipse">
            <a:avLst/>
          </a:prstGeom>
          <a:solidFill>
            <a:srgbClr val="5C2A56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385" y="794385"/>
            <a:ext cx="377190" cy="3771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600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8D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FEIRA DE SOLUCOES PYTHON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2011680"/>
            <a:ext cx="8686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7F4F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Sorteio Justo e Senhas</a:t>
            </a:r>
            <a:endParaRPr lang="en-US" sz="4400" dirty="0"/>
          </a:p>
          <a:p>
            <a:pPr marL="0" indent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7F4F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Temporarias com Python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621792" y="3977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8D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nativa: </a:t>
            </a:r>
            <a:r>
              <a:rPr lang="en-US" sz="2000" b="1" i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594360" y="4709160"/>
            <a:ext cx="5760720" cy="1417320"/>
          </a:xfrm>
          <a:prstGeom prst="roundRect">
            <a:avLst>
              <a:gd name="adj" fmla="val 5806"/>
            </a:avLst>
          </a:prstGeom>
          <a:solidFill>
            <a:srgbClr val="2A0E25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486460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aplicado a: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68680" y="51206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7F4F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Matriane Joias e Bijus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68680" y="55321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D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Sorteio no Instagram + geracao de senhas para novos usuarios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8366760" y="4800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366760" y="5074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 err="1" smtClean="0">
                <a:solidFill>
                  <a:srgbClr val="F7F4F2"/>
                </a:solidFill>
                <a:latin typeface="Calibri" pitchFamily="34" charset="0"/>
                <a:cs typeface="Calibri" pitchFamily="34" charset="-120"/>
              </a:rPr>
              <a:t>Desafio</a:t>
            </a:r>
            <a:r>
              <a:rPr lang="en-US" sz="1500" b="1" dirty="0" smtClean="0">
                <a:solidFill>
                  <a:srgbClr val="F7F4F2"/>
                </a:solidFill>
                <a:latin typeface="Calibri" pitchFamily="34" charset="0"/>
                <a:cs typeface="Calibri" pitchFamily="34" charset="-120"/>
              </a:rPr>
              <a:t> do </a:t>
            </a:r>
            <a:r>
              <a:rPr lang="en-US" sz="1500" b="1" dirty="0" err="1" smtClean="0">
                <a:solidFill>
                  <a:srgbClr val="F7F4F2"/>
                </a:solidFill>
                <a:latin typeface="Calibri" pitchFamily="34" charset="0"/>
                <a:cs typeface="Calibri" pitchFamily="34" charset="-120"/>
              </a:rPr>
              <a:t>Cassino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366760" y="544068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7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Integrantes: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 smtClean="0">
                <a:solidFill>
                  <a:srgbClr val="7A6B76"/>
                </a:solidFill>
                <a:latin typeface="Calibri" pitchFamily="34" charset="0"/>
                <a:cs typeface="Calibri" pitchFamily="34" charset="-120"/>
              </a:rPr>
              <a:t>Adriane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 err="1" smtClean="0">
                <a:solidFill>
                  <a:srgbClr val="7A6B76"/>
                </a:solidFill>
                <a:latin typeface="Calibri" pitchFamily="34" charset="0"/>
                <a:cs typeface="Calibri" pitchFamily="34" charset="-120"/>
              </a:rPr>
              <a:t>Matheus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 smtClean="0">
                <a:solidFill>
                  <a:srgbClr val="7A6B76"/>
                </a:solidFill>
                <a:latin typeface="Calibri" pitchFamily="34" charset="0"/>
                <a:cs typeface="Calibri" pitchFamily="34" charset="-120"/>
              </a:rPr>
              <a:t>Fuyuki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D14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377440"/>
            <a:ext cx="5486400" cy="5486400"/>
          </a:xfrm>
          <a:prstGeom prst="ellipse">
            <a:avLst/>
          </a:prstGeom>
          <a:solidFill>
            <a:srgbClr val="2A0E25"/>
          </a:solidFill>
          <a:ln/>
        </p:spPr>
      </p:sp>
      <p:sp>
        <p:nvSpPr>
          <p:cNvPr id="3" name="Shape 1"/>
          <p:cNvSpPr/>
          <p:nvPr/>
        </p:nvSpPr>
        <p:spPr>
          <a:xfrm>
            <a:off x="-2560320" y="4754880"/>
            <a:ext cx="5029200" cy="5029200"/>
          </a:xfrm>
          <a:prstGeom prst="ellipse">
            <a:avLst/>
          </a:prstGeom>
          <a:solidFill>
            <a:srgbClr val="2A0E2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VAI FUNCIONAR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21792" y="9144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7F4F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Roteiro da apresentacao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D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Dividimos a apresentacao em duas partes, cada uma com um foco diferente: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423160"/>
            <a:ext cx="4892040" cy="3794760"/>
          </a:xfrm>
          <a:prstGeom prst="roundRect">
            <a:avLst>
              <a:gd name="adj" fmla="val 2410"/>
            </a:avLst>
          </a:prstGeom>
          <a:solidFill>
            <a:srgbClr val="2A0E25"/>
          </a:solidFill>
          <a:ln/>
        </p:spPr>
      </p:sp>
      <p:sp>
        <p:nvSpPr>
          <p:cNvPr id="8" name="Shape 6"/>
          <p:cNvSpPr/>
          <p:nvPr/>
        </p:nvSpPr>
        <p:spPr>
          <a:xfrm>
            <a:off x="1005840" y="2743200"/>
            <a:ext cx="868680" cy="868680"/>
          </a:xfrm>
          <a:prstGeom prst="ellipse">
            <a:avLst/>
          </a:prstGeom>
          <a:solidFill>
            <a:srgbClr val="482050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010" y="2960370"/>
            <a:ext cx="434340" cy="4343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434840" y="2743200"/>
            <a:ext cx="868680" cy="365760"/>
          </a:xfrm>
          <a:prstGeom prst="roundRect">
            <a:avLst>
              <a:gd name="adj" fmla="val 50000"/>
            </a:avLst>
          </a:prstGeom>
          <a:solidFill>
            <a:srgbClr val="482050"/>
          </a:solidFill>
          <a:ln/>
        </p:spPr>
      </p:sp>
      <p:sp>
        <p:nvSpPr>
          <p:cNvPr id="11" name="Text 8"/>
          <p:cNvSpPr/>
          <p:nvPr/>
        </p:nvSpPr>
        <p:spPr>
          <a:xfrm>
            <a:off x="4434840" y="274320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 min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960120" y="37947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60120" y="40690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7F4F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 Conceito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960120" y="461772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E8D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 1 e Aluno 2 explicam o problema da loja e a biblioteca random para o publico leigo, sem jargao tecnico.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960120" y="58064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apresenta: Aluno 1 + Aluno 2   |   Slides 1-4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806440" y="3977640"/>
            <a:ext cx="548640" cy="548640"/>
          </a:xfrm>
          <a:prstGeom prst="ellipse">
            <a:avLst/>
          </a:prstGeom>
          <a:solidFill>
            <a:srgbClr val="482050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9884" y="4101084"/>
            <a:ext cx="301752" cy="301752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629400" y="2423160"/>
            <a:ext cx="4892040" cy="3794760"/>
          </a:xfrm>
          <a:prstGeom prst="roundRect">
            <a:avLst>
              <a:gd name="adj" fmla="val 2410"/>
            </a:avLst>
          </a:prstGeom>
          <a:solidFill>
            <a:srgbClr val="2A0E25"/>
          </a:solidFill>
          <a:ln/>
        </p:spPr>
      </p:sp>
      <p:sp>
        <p:nvSpPr>
          <p:cNvPr id="19" name="Shape 15"/>
          <p:cNvSpPr/>
          <p:nvPr/>
        </p:nvSpPr>
        <p:spPr>
          <a:xfrm>
            <a:off x="6995160" y="2743200"/>
            <a:ext cx="868680" cy="868680"/>
          </a:xfrm>
          <a:prstGeom prst="ellipse">
            <a:avLst/>
          </a:prstGeom>
          <a:solidFill>
            <a:srgbClr val="482050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2330" y="2960370"/>
            <a:ext cx="434340" cy="43434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10424160" y="2743200"/>
            <a:ext cx="868680" cy="365760"/>
          </a:xfrm>
          <a:prstGeom prst="roundRect">
            <a:avLst>
              <a:gd name="adj" fmla="val 50000"/>
            </a:avLst>
          </a:prstGeom>
          <a:solidFill>
            <a:srgbClr val="482050"/>
          </a:solidFill>
          <a:ln/>
        </p:spPr>
      </p:sp>
      <p:sp>
        <p:nvSpPr>
          <p:cNvPr id="22" name="Text 17"/>
          <p:cNvSpPr/>
          <p:nvPr/>
        </p:nvSpPr>
        <p:spPr>
          <a:xfrm>
            <a:off x="10424160" y="274320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 min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6949440" y="37947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6949440" y="40690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7F4F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 Codigo</a:t>
            </a:r>
            <a:endParaRPr lang="en-US" sz="2200" dirty="0"/>
          </a:p>
        </p:txBody>
      </p:sp>
      <p:sp>
        <p:nvSpPr>
          <p:cNvPr id="25" name="Text 20"/>
          <p:cNvSpPr/>
          <p:nvPr/>
        </p:nvSpPr>
        <p:spPr>
          <a:xfrm>
            <a:off x="6949440" y="461772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E8D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Voce mostra o sistema rodando e ensina cada parte do codigo, incluindo o Hello World ao vivo com a turma.</a:t>
            </a:r>
            <a:endParaRPr lang="en-US" sz="1250" dirty="0"/>
          </a:p>
        </p:txBody>
      </p:sp>
      <p:sp>
        <p:nvSpPr>
          <p:cNvPr id="26" name="Text 21"/>
          <p:cNvSpPr/>
          <p:nvPr/>
        </p:nvSpPr>
        <p:spPr>
          <a:xfrm>
            <a:off x="6949440" y="58064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apresenta: Voce   |   Slides 5-7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8229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41A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Dois desafios do dia a dia da loja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21208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331720"/>
            <a:ext cx="822960" cy="822960"/>
          </a:xfrm>
          <a:prstGeom prst="ellipse">
            <a:avLst/>
          </a:prstGeom>
          <a:solidFill>
            <a:srgbClr val="F1E9D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1580" y="253746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11680" y="24231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41A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Sorteio no Instagram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005840" y="3337560"/>
            <a:ext cx="4480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7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loja quer sortear um cliente entre 1.000 seguidores de forma justa -- sem favorecimento, sem viés, com a mesma chance para todo mundo.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005840" y="4800600"/>
            <a:ext cx="4480560" cy="1051560"/>
          </a:xfrm>
          <a:prstGeom prst="roundRect">
            <a:avLst>
              <a:gd name="adj" fmla="val 6957"/>
            </a:avLst>
          </a:prstGeom>
          <a:solidFill>
            <a:srgbClr val="F1E9DE"/>
          </a:solidFill>
          <a:ln/>
        </p:spPr>
      </p:sp>
      <p:sp>
        <p:nvSpPr>
          <p:cNvPr id="10" name="Text 7"/>
          <p:cNvSpPr/>
          <p:nvPr/>
        </p:nvSpPr>
        <p:spPr>
          <a:xfrm>
            <a:off x="1188720" y="489204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D143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1.000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2651760" y="498348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4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na lista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4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participantes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63640" y="1965960"/>
            <a:ext cx="521208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629400" y="2331720"/>
            <a:ext cx="822960" cy="822960"/>
          </a:xfrm>
          <a:prstGeom prst="ellipse">
            <a:avLst/>
          </a:prstGeom>
          <a:solidFill>
            <a:srgbClr val="F1E9DE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5140" y="2537460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635240" y="24231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41A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Senhas Temporarias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6629400" y="3337560"/>
            <a:ext cx="4480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7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equipe de TI precisa gerar, na hora, uma senha temporaria e imprevisivel para cada novo funcionario que entra no sistema.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6629400" y="4800600"/>
            <a:ext cx="4480560" cy="1051560"/>
          </a:xfrm>
          <a:prstGeom prst="roundRect">
            <a:avLst>
              <a:gd name="adj" fmla="val 6957"/>
            </a:avLst>
          </a:prstGeom>
          <a:solidFill>
            <a:srgbClr val="F1E9DE"/>
          </a:solidFill>
          <a:ln/>
        </p:spPr>
      </p:sp>
      <p:sp>
        <p:nvSpPr>
          <p:cNvPr id="18" name="Text 14"/>
          <p:cNvSpPr/>
          <p:nvPr/>
        </p:nvSpPr>
        <p:spPr>
          <a:xfrm>
            <a:off x="6812280" y="489204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D143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100%</a:t>
            </a:r>
            <a:endParaRPr lang="en-US" sz="3000" dirty="0"/>
          </a:p>
        </p:txBody>
      </p:sp>
      <p:sp>
        <p:nvSpPr>
          <p:cNvPr id="19" name="Text 15"/>
          <p:cNvSpPr/>
          <p:nvPr/>
        </p:nvSpPr>
        <p:spPr>
          <a:xfrm>
            <a:off x="8275320" y="498348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4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imprevisiveis a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4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geracao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D14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377440"/>
            <a:ext cx="5486400" cy="5486400"/>
          </a:xfrm>
          <a:prstGeom prst="ellipse">
            <a:avLst/>
          </a:prstGeom>
          <a:solidFill>
            <a:srgbClr val="2A0E2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SOLUCAO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21792" y="9144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7F4F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biblioteca </a:t>
            </a:r>
            <a:r>
              <a:rPr lang="en-US" sz="3400" b="1" i="1" dirty="0">
                <a:solidFill>
                  <a:srgbClr val="C9A2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random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21792" y="178308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E8D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como um saco de bolinhas de bingo dentro do codigo: cada vez que voce pede</a:t>
            </a:r>
            <a:endParaRPr lang="en-US" sz="15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E8D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 ele “tirar uma bolinha”, vem uma diferente -- sem preferencia, sem repeticao</a:t>
            </a:r>
            <a:endParaRPr lang="en-US" sz="15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E8D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padrao. Nativa do Python, ou seja, zero instalacao.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383280"/>
            <a:ext cx="3520440" cy="2606040"/>
          </a:xfrm>
          <a:prstGeom prst="roundRect">
            <a:avLst>
              <a:gd name="adj" fmla="val 3509"/>
            </a:avLst>
          </a:prstGeom>
          <a:solidFill>
            <a:srgbClr val="2A0E25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3703320"/>
            <a:ext cx="777240" cy="777240"/>
          </a:xfrm>
          <a:prstGeom prst="ellipse">
            <a:avLst/>
          </a:prstGeom>
          <a:solidFill>
            <a:srgbClr val="4A2246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4430" y="3897630"/>
            <a:ext cx="388620" cy="3886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46177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7F4F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Justo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960120" y="5010912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7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item da lista tem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7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exatamente a mesma chance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480560" y="3383280"/>
            <a:ext cx="3520440" cy="2606040"/>
          </a:xfrm>
          <a:prstGeom prst="roundRect">
            <a:avLst>
              <a:gd name="adj" fmla="val 3509"/>
            </a:avLst>
          </a:prstGeom>
          <a:solidFill>
            <a:srgbClr val="2A0E25"/>
          </a:solidFill>
          <a:ln/>
        </p:spPr>
      </p:sp>
      <p:sp>
        <p:nvSpPr>
          <p:cNvPr id="12" name="Shape 9"/>
          <p:cNvSpPr/>
          <p:nvPr/>
        </p:nvSpPr>
        <p:spPr>
          <a:xfrm>
            <a:off x="4800600" y="3703320"/>
            <a:ext cx="777240" cy="777240"/>
          </a:xfrm>
          <a:prstGeom prst="ellipse">
            <a:avLst/>
          </a:prstGeom>
          <a:solidFill>
            <a:srgbClr val="4A2246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4910" y="3897630"/>
            <a:ext cx="388620" cy="3886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800600" y="46177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7F4F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Imprevisivel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800600" y="5010912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7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Ninguem consegue adivinhar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7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proximo resultado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321040" y="3383280"/>
            <a:ext cx="3520440" cy="2606040"/>
          </a:xfrm>
          <a:prstGeom prst="roundRect">
            <a:avLst>
              <a:gd name="adj" fmla="val 3509"/>
            </a:avLst>
          </a:prstGeom>
          <a:solidFill>
            <a:srgbClr val="2A0E25"/>
          </a:solidFill>
          <a:ln/>
        </p:spPr>
      </p:sp>
      <p:sp>
        <p:nvSpPr>
          <p:cNvPr id="17" name="Shape 13"/>
          <p:cNvSpPr/>
          <p:nvPr/>
        </p:nvSpPr>
        <p:spPr>
          <a:xfrm>
            <a:off x="8641080" y="3703320"/>
            <a:ext cx="777240" cy="777240"/>
          </a:xfrm>
          <a:prstGeom prst="ellipse">
            <a:avLst/>
          </a:prstGeom>
          <a:solidFill>
            <a:srgbClr val="4A2246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5390" y="3897630"/>
            <a:ext cx="388620" cy="3886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641080" y="46177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7F4F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Nativo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8641080" y="5010912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7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 vem com o Python,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7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precisar instalar nada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PRATICA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8229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41A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Os 3 comandos essenciais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8813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12848"/>
            <a:ext cx="822960" cy="822960"/>
          </a:xfrm>
          <a:prstGeom prst="ellipse">
            <a:avLst/>
          </a:prstGeom>
          <a:solidFill>
            <a:srgbClr val="3D1436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21284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A2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057400" y="208483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41A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random.choice(lista)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057400" y="2542032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7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Sorteia 1 item aleatorio da lista.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040880" y="2304288"/>
            <a:ext cx="4251960" cy="640080"/>
          </a:xfrm>
          <a:prstGeom prst="roundRect">
            <a:avLst>
              <a:gd name="adj" fmla="val 8571"/>
            </a:avLst>
          </a:prstGeom>
          <a:solidFill>
            <a:srgbClr val="2A0E25"/>
          </a:solidFill>
          <a:ln/>
        </p:spPr>
      </p:sp>
      <p:sp>
        <p:nvSpPr>
          <p:cNvPr id="10" name="Text 8"/>
          <p:cNvSpPr/>
          <p:nvPr/>
        </p:nvSpPr>
        <p:spPr>
          <a:xfrm>
            <a:off x="7223760" y="2304288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D8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vencedor = random.choice(clientes)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" y="3520440"/>
            <a:ext cx="108813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60120" y="3813048"/>
            <a:ext cx="822960" cy="822960"/>
          </a:xfrm>
          <a:prstGeom prst="ellipse">
            <a:avLst/>
          </a:prstGeom>
          <a:solidFill>
            <a:srgbClr val="3D1436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381304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A2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057400" y="368503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41A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random.shuffle(lista)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057400" y="4142232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7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Embaralha a ordem da lista inteira.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040880" y="3904488"/>
            <a:ext cx="4251960" cy="640080"/>
          </a:xfrm>
          <a:prstGeom prst="roundRect">
            <a:avLst>
              <a:gd name="adj" fmla="val 8571"/>
            </a:avLst>
          </a:prstGeom>
          <a:solidFill>
            <a:srgbClr val="2A0E25"/>
          </a:solidFill>
          <a:ln/>
        </p:spPr>
      </p:sp>
      <p:sp>
        <p:nvSpPr>
          <p:cNvPr id="17" name="Text 15"/>
          <p:cNvSpPr/>
          <p:nvPr/>
        </p:nvSpPr>
        <p:spPr>
          <a:xfrm>
            <a:off x="7223760" y="3904488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D8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random.shuffle(clientes)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5120640"/>
            <a:ext cx="108813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60120" y="5413248"/>
            <a:ext cx="822960" cy="822960"/>
          </a:xfrm>
          <a:prstGeom prst="ellipse">
            <a:avLst/>
          </a:prstGeom>
          <a:solidFill>
            <a:srgbClr val="3D1436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541324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A2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2057400" y="528523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41A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random.choices(seq, k=n)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2057400" y="5742432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7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Sorteia N itens, com repeticao (senhas).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040880" y="5504688"/>
            <a:ext cx="4251960" cy="640080"/>
          </a:xfrm>
          <a:prstGeom prst="roundRect">
            <a:avLst>
              <a:gd name="adj" fmla="val 8571"/>
            </a:avLst>
          </a:prstGeom>
          <a:solidFill>
            <a:srgbClr val="2A0E25"/>
          </a:solidFill>
          <a:ln/>
        </p:spPr>
      </p:sp>
      <p:sp>
        <p:nvSpPr>
          <p:cNvPr id="24" name="Text 22"/>
          <p:cNvSpPr/>
          <p:nvPr/>
        </p:nvSpPr>
        <p:spPr>
          <a:xfrm>
            <a:off x="7223760" y="5504688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D8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senha = "".join(random.choices(chars, k=8))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A0E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685800" cy="685800"/>
          </a:xfrm>
          <a:prstGeom prst="ellipse">
            <a:avLst/>
          </a:prstGeom>
          <a:solidFill>
            <a:srgbClr val="48205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530" y="765810"/>
            <a:ext cx="342900" cy="34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640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MAO NA MASSA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9144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7F4F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Vamos rodar juntos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0080" y="1691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D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Abram o Python e digitem estas 4 linhas com a gente: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194560"/>
            <a:ext cx="10881360" cy="2788920"/>
          </a:xfrm>
          <a:prstGeom prst="roundRect">
            <a:avLst>
              <a:gd name="adj" fmla="val 3279"/>
            </a:avLst>
          </a:prstGeom>
          <a:solidFill>
            <a:srgbClr val="1B0A18"/>
          </a:solidFill>
          <a:ln/>
        </p:spPr>
      </p:sp>
      <p:sp>
        <p:nvSpPr>
          <p:cNvPr id="8" name="Shape 5"/>
          <p:cNvSpPr/>
          <p:nvPr/>
        </p:nvSpPr>
        <p:spPr>
          <a:xfrm>
            <a:off x="960120" y="2423160"/>
            <a:ext cx="164592" cy="164592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9" name="Shape 6"/>
          <p:cNvSpPr/>
          <p:nvPr/>
        </p:nvSpPr>
        <p:spPr>
          <a:xfrm>
            <a:off x="1252728" y="2423160"/>
            <a:ext cx="164592" cy="16459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7"/>
          <p:cNvSpPr/>
          <p:nvPr/>
        </p:nvSpPr>
        <p:spPr>
          <a:xfrm>
            <a:off x="1545336" y="2423160"/>
            <a:ext cx="164592" cy="164592"/>
          </a:xfrm>
          <a:prstGeom prst="ellipse">
            <a:avLst/>
          </a:prstGeom>
          <a:solidFill>
            <a:srgbClr val="28C940"/>
          </a:solidFill>
          <a:ln/>
        </p:spPr>
      </p:sp>
      <p:sp>
        <p:nvSpPr>
          <p:cNvPr id="11" name="Text 8"/>
          <p:cNvSpPr/>
          <p:nvPr/>
        </p:nvSpPr>
        <p:spPr>
          <a:xfrm>
            <a:off x="960120" y="2788920"/>
            <a:ext cx="10241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1600" dirty="0">
                <a:solidFill>
                  <a:srgbClr val="E8D8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random</a:t>
            </a:r>
            <a:endParaRPr lang="en-US" sz="160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60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usuarios = ["@didica", "@brunoooo", "@maicon"]</a:t>
            </a:r>
            <a:endParaRPr lang="en-US" sz="160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60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vencedor = random.choice(usuarios)</a:t>
            </a:r>
            <a:endParaRPr lang="en-US" sz="160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60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print("Vencedor:", vencedor)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40080" y="5349240"/>
            <a:ext cx="10881360" cy="960120"/>
          </a:xfrm>
          <a:prstGeom prst="roundRect">
            <a:avLst>
              <a:gd name="adj" fmla="val 8571"/>
            </a:avLst>
          </a:prstGeom>
          <a:solidFill>
            <a:srgbClr val="482050"/>
          </a:solidFill>
          <a:ln/>
        </p:spPr>
      </p:sp>
      <p:sp>
        <p:nvSpPr>
          <p:cNvPr id="13" name="Shape 10"/>
          <p:cNvSpPr/>
          <p:nvPr/>
        </p:nvSpPr>
        <p:spPr>
          <a:xfrm>
            <a:off x="868680" y="5532120"/>
            <a:ext cx="548640" cy="548640"/>
          </a:xfrm>
          <a:prstGeom prst="ellipse">
            <a:avLst/>
          </a:prstGeom>
          <a:solidFill>
            <a:srgbClr val="3D1436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" y="5655564"/>
            <a:ext cx="301752" cy="30175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600200" y="5440680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7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apareceu um @usuario diferente do seu colega do lado, o sorteio esta funcionando!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DEMONSTRACAO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8229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41A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 sistema interno da loja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mini-sistema de linha de comando com login e menu, pronto pra usar no dia a dia: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3D1436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2606040"/>
            <a:ext cx="777240" cy="777240"/>
          </a:xfrm>
          <a:prstGeom prst="ellipse">
            <a:avLst/>
          </a:prstGeom>
          <a:solidFill>
            <a:srgbClr val="5C2A56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4430" y="2800350"/>
            <a:ext cx="388620" cy="3886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5204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7F4F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Login da equipe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96112" y="425196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E8D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e senha da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E8D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Matriane joias e bijus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200400" y="365760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24B"/>
                </a:solidFill>
              </a:rPr>
              <a:t>&gt;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3429000" y="228600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3D1436"/>
          </a:solidFill>
          <a:ln/>
        </p:spPr>
      </p:sp>
      <p:sp>
        <p:nvSpPr>
          <p:cNvPr id="12" name="Shape 9"/>
          <p:cNvSpPr/>
          <p:nvPr/>
        </p:nvSpPr>
        <p:spPr>
          <a:xfrm>
            <a:off x="3749040" y="2606040"/>
            <a:ext cx="777240" cy="777240"/>
          </a:xfrm>
          <a:prstGeom prst="ellipse">
            <a:avLst/>
          </a:prstGeom>
          <a:solidFill>
            <a:srgbClr val="5C2A56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3350" y="2800350"/>
            <a:ext cx="388620" cy="3886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85032" y="35204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7F4F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[1] Sortear usuario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3685032" y="425196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E8D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random.choice() elege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E8D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cliente da lista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5989320" y="365760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24B"/>
                </a:solidFill>
              </a:rPr>
              <a:t>&gt;</a:t>
            </a:r>
            <a:endParaRPr lang="en-US" sz="2200" dirty="0"/>
          </a:p>
        </p:txBody>
      </p:sp>
      <p:sp>
        <p:nvSpPr>
          <p:cNvPr id="17" name="Shape 13"/>
          <p:cNvSpPr/>
          <p:nvPr/>
        </p:nvSpPr>
        <p:spPr>
          <a:xfrm>
            <a:off x="6217920" y="228600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3D1436"/>
          </a:solidFill>
          <a:ln/>
        </p:spPr>
      </p:sp>
      <p:sp>
        <p:nvSpPr>
          <p:cNvPr id="18" name="Shape 14"/>
          <p:cNvSpPr/>
          <p:nvPr/>
        </p:nvSpPr>
        <p:spPr>
          <a:xfrm>
            <a:off x="6537960" y="2606040"/>
            <a:ext cx="777240" cy="777240"/>
          </a:xfrm>
          <a:prstGeom prst="ellipse">
            <a:avLst/>
          </a:prstGeom>
          <a:solidFill>
            <a:srgbClr val="5C2A56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2270" y="2800350"/>
            <a:ext cx="388620" cy="3886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73952" y="35204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7F4F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[2] Novo usuario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6473952" y="425196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E8D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random.choices() gera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E8D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senha temporaria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8778240" y="365760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24B"/>
                </a:solidFill>
              </a:rPr>
              <a:t>&gt;</a:t>
            </a:r>
            <a:endParaRPr lang="en-US" sz="2200" dirty="0"/>
          </a:p>
        </p:txBody>
      </p:sp>
      <p:sp>
        <p:nvSpPr>
          <p:cNvPr id="23" name="Shape 18"/>
          <p:cNvSpPr/>
          <p:nvPr/>
        </p:nvSpPr>
        <p:spPr>
          <a:xfrm>
            <a:off x="9006840" y="228600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3D1436"/>
          </a:solidFill>
          <a:ln/>
        </p:spPr>
      </p:sp>
      <p:sp>
        <p:nvSpPr>
          <p:cNvPr id="24" name="Shape 19"/>
          <p:cNvSpPr/>
          <p:nvPr/>
        </p:nvSpPr>
        <p:spPr>
          <a:xfrm>
            <a:off x="9326880" y="2606040"/>
            <a:ext cx="777240" cy="777240"/>
          </a:xfrm>
          <a:prstGeom prst="ellipse">
            <a:avLst/>
          </a:prstGeom>
          <a:solidFill>
            <a:srgbClr val="5C2A56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1190" y="2800350"/>
            <a:ext cx="388620" cy="3886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262872" y="35204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7F4F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Efeito de espera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9262872" y="425196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E8D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time.sleep() deixa a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E8D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apresentacao mais fluida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D14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4389120"/>
            <a:ext cx="4572000" cy="4572000"/>
          </a:xfrm>
          <a:prstGeom prst="ellipse">
            <a:avLst/>
          </a:prstGeom>
          <a:solidFill>
            <a:srgbClr val="2A0E2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 APOIO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21792" y="9144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7F4F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 Guia Rapido para a turma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E8D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Alem do codigo, deixamos um Cheat Sheet de 1 pagina com os 3 comandos do random, pra qualquer colega consultar depois da aula.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880360"/>
            <a:ext cx="365760" cy="365760"/>
          </a:xfrm>
          <a:prstGeom prst="ellipse">
            <a:avLst/>
          </a:prstGeom>
          <a:solidFill>
            <a:srgbClr val="482050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953512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2880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7F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random.choice(lista) -- sorteio simples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40080" y="3447288"/>
            <a:ext cx="365760" cy="365760"/>
          </a:xfrm>
          <a:prstGeom prst="ellipse">
            <a:avLst/>
          </a:prstGeom>
          <a:solidFill>
            <a:srgbClr val="482050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520440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344728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7F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random.shuffle(lista) -- embaralhar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40080" y="4014216"/>
            <a:ext cx="365760" cy="365760"/>
          </a:xfrm>
          <a:prstGeom prst="ellipse">
            <a:avLst/>
          </a:prstGeom>
          <a:solidFill>
            <a:srgbClr val="482050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4087368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4014216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7F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random.choices(seq, k=n) -- gerar senha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7589520" y="1188720"/>
            <a:ext cx="3931920" cy="512064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/>
          <a:effectLst>
            <a:outerShdw blurRad="177800" dist="508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7589520" y="1188720"/>
            <a:ext cx="3931920" cy="1051560"/>
          </a:xfrm>
          <a:prstGeom prst="rect">
            <a:avLst/>
          </a:prstGeom>
          <a:solidFill>
            <a:srgbClr val="2A0E25"/>
          </a:solidFill>
          <a:ln/>
        </p:spPr>
      </p:sp>
      <p:sp>
        <p:nvSpPr>
          <p:cNvPr id="17" name="Text 12"/>
          <p:cNvSpPr/>
          <p:nvPr/>
        </p:nvSpPr>
        <p:spPr>
          <a:xfrm>
            <a:off x="7818120" y="1298448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7F4F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Guia Rapido:</a:t>
            </a:r>
            <a:endParaRPr lang="en-US" sz="15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7F4F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random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7818120" y="2514600"/>
            <a:ext cx="3474720" cy="1143000"/>
          </a:xfrm>
          <a:prstGeom prst="roundRect">
            <a:avLst>
              <a:gd name="adj" fmla="val 4800"/>
            </a:avLst>
          </a:prstGeom>
          <a:solidFill>
            <a:srgbClr val="F1E9DE"/>
          </a:solidFill>
          <a:ln/>
        </p:spPr>
      </p:sp>
      <p:sp>
        <p:nvSpPr>
          <p:cNvPr id="19" name="Shape 14"/>
          <p:cNvSpPr/>
          <p:nvPr/>
        </p:nvSpPr>
        <p:spPr>
          <a:xfrm>
            <a:off x="7973568" y="267919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6438" y="2782062"/>
            <a:ext cx="251460" cy="2514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595360" y="26974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 1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8595360" y="304495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veja no PDF anexo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7818120" y="3840480"/>
            <a:ext cx="3474720" cy="1143000"/>
          </a:xfrm>
          <a:prstGeom prst="roundRect">
            <a:avLst>
              <a:gd name="adj" fmla="val 4800"/>
            </a:avLst>
          </a:prstGeom>
          <a:solidFill>
            <a:srgbClr val="F1E9DE"/>
          </a:solidFill>
          <a:ln/>
        </p:spPr>
      </p:sp>
      <p:sp>
        <p:nvSpPr>
          <p:cNvPr id="24" name="Shape 18"/>
          <p:cNvSpPr/>
          <p:nvPr/>
        </p:nvSpPr>
        <p:spPr>
          <a:xfrm>
            <a:off x="7973568" y="400507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6438" y="4107942"/>
            <a:ext cx="251460" cy="25146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595360" y="4023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 2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8595360" y="437083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veja no PDF anexo</a:t>
            </a:r>
            <a:endParaRPr lang="en-US" sz="950" dirty="0"/>
          </a:p>
        </p:txBody>
      </p:sp>
      <p:sp>
        <p:nvSpPr>
          <p:cNvPr id="28" name="Shape 21"/>
          <p:cNvSpPr/>
          <p:nvPr/>
        </p:nvSpPr>
        <p:spPr>
          <a:xfrm>
            <a:off x="7818120" y="5166360"/>
            <a:ext cx="3474720" cy="1143000"/>
          </a:xfrm>
          <a:prstGeom prst="roundRect">
            <a:avLst>
              <a:gd name="adj" fmla="val 4800"/>
            </a:avLst>
          </a:prstGeom>
          <a:solidFill>
            <a:srgbClr val="F1E9DE"/>
          </a:solidFill>
          <a:ln/>
        </p:spPr>
      </p:sp>
      <p:sp>
        <p:nvSpPr>
          <p:cNvPr id="29" name="Shape 22"/>
          <p:cNvSpPr/>
          <p:nvPr/>
        </p:nvSpPr>
        <p:spPr>
          <a:xfrm>
            <a:off x="7973568" y="533095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6438" y="5433822"/>
            <a:ext cx="251460" cy="25146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595360" y="53492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 3</a:t>
            </a:r>
            <a:endParaRPr lang="en-US" sz="1200" dirty="0"/>
          </a:p>
        </p:txBody>
      </p:sp>
      <p:sp>
        <p:nvSpPr>
          <p:cNvPr id="32" name="Text 24"/>
          <p:cNvSpPr/>
          <p:nvPr/>
        </p:nvSpPr>
        <p:spPr>
          <a:xfrm>
            <a:off x="8595360" y="569671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veja no PDF anexo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A0E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560320" y="-2560320"/>
            <a:ext cx="5943600" cy="5943600"/>
          </a:xfrm>
          <a:prstGeom prst="ellipse">
            <a:avLst/>
          </a:prstGeom>
          <a:solidFill>
            <a:srgbClr val="482050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3474720"/>
            <a:ext cx="5029200" cy="5029200"/>
          </a:xfrm>
          <a:prstGeom prst="ellipse">
            <a:avLst/>
          </a:prstGeom>
          <a:solidFill>
            <a:srgbClr val="482050"/>
          </a:solidFill>
          <a:ln/>
        </p:spPr>
      </p:sp>
      <p:sp>
        <p:nvSpPr>
          <p:cNvPr id="4" name="Shape 2"/>
          <p:cNvSpPr/>
          <p:nvPr/>
        </p:nvSpPr>
        <p:spPr>
          <a:xfrm>
            <a:off x="5349240" y="1371600"/>
            <a:ext cx="1051560" cy="1051560"/>
          </a:xfrm>
          <a:prstGeom prst="ellipse">
            <a:avLst/>
          </a:prstGeom>
          <a:solidFill>
            <a:srgbClr val="5C2A56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2130" y="1634490"/>
            <a:ext cx="525780" cy="5257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697480"/>
            <a:ext cx="12161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7F4F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Obrigado!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0" y="3520440"/>
            <a:ext cx="1216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E8D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Duvidas? Perguntas? A rodada de sorteio esta aberta.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251960" y="4343400"/>
            <a:ext cx="3657600" cy="868680"/>
          </a:xfrm>
          <a:prstGeom prst="roundRect">
            <a:avLst>
              <a:gd name="adj" fmla="val 9474"/>
            </a:avLst>
          </a:prstGeom>
          <a:solidFill>
            <a:srgbClr val="482050"/>
          </a:solidFill>
          <a:ln/>
        </p:spPr>
      </p:sp>
      <p:sp>
        <p:nvSpPr>
          <p:cNvPr id="9" name="Text 6"/>
          <p:cNvSpPr/>
          <p:nvPr/>
        </p:nvSpPr>
        <p:spPr>
          <a:xfrm>
            <a:off x="4251960" y="434340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9A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random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0" y="6263640"/>
            <a:ext cx="1216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Grupo]  --  Feira de Solucoes Python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586</Words>
  <Application>Microsoft Office PowerPoint</Application>
  <PresentationFormat>Widescreen</PresentationFormat>
  <Paragraphs>119</Paragraphs>
  <Slides>9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4" baseType="lpstr">
      <vt:lpstr>Arial</vt:lpstr>
      <vt:lpstr>Bookman Old Style</vt:lpstr>
      <vt:lpstr>Calibri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Sorteio Justo e Senhas Temporarias com Python</dc:title>
  <dc:subject>PptxGenJS Presentation</dc:subject>
  <dc:creator>Feira de Solucoes Python</dc:creator>
  <cp:lastModifiedBy>Fundatec</cp:lastModifiedBy>
  <cp:revision>2</cp:revision>
  <dcterms:created xsi:type="dcterms:W3CDTF">2026-07-03T22:31:31Z</dcterms:created>
  <dcterms:modified xsi:type="dcterms:W3CDTF">2026-07-03T22:35:26Z</dcterms:modified>
</cp:coreProperties>
</file>